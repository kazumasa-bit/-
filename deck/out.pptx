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2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3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43E"/>
                </a:solidFill>
                <a:latin typeface="Yu Gothic"/>
              </a:defRPr>
            </a:pPr>
            <a:r>
              <a:rPr sz="1300" b="0" i="0" u="none" strike="noStrike">
                <a:solidFill>
                  <a:srgbClr val="10243E"/>
                </a:solidFill>
                <a:latin typeface="Yu Gothic"/>
              </a:rPr>
              <a:t>1年間に回せる検証サイクル数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年間の検証回数</c:v>
                </c:pt>
              </c:strCache>
            </c:strRef>
          </c:tx>
          <c:spPr>
            <a:solidFill>
              <a:srgbClr val="2C55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22F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58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7A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2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7C5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年1回</c:v>
                  </c:pt>
                  <c:pt idx="1">
                    <c:v>月1回</c:v>
                  </c:pt>
                  <c:pt idx="2">
                    <c:v>週1回</c:v>
                  </c:pt>
                  <c:pt idx="3">
                    <c:v>毎日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12</c:v>
                </c:pt>
                <c:pt idx="2">
                  <c:v>52</c:v>
                </c:pt>
                <c:pt idx="3">
                  <c:v>365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22F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243E"/>
                </a:solidFill>
                <a:latin typeface="Yu Gothic"/>
              </a:defRPr>
            </a:pPr>
            <a:r>
              <a:rPr sz="1200" b="0" i="0" u="none" strike="noStrike">
                <a:solidFill>
                  <a:srgbClr val="10243E"/>
                </a:solidFill>
                <a:latin typeface="Yu Gothic"/>
              </a:rPr>
              <a:t>1回の成功率が10%のとき、n回挑戦して1回以上成功する確率（%）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1回以上成功する確率</c:v>
                </c:pt>
              </c:strCache>
            </c:strRef>
          </c:tx>
          <c:spPr>
            <a:solidFill>
              <a:srgbClr val="C9D3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22F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D3D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AC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E9A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2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E7C5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1回</c:v>
                  </c:pt>
                  <c:pt idx="1">
                    <c:v>5回</c:v>
                  </c:pt>
                  <c:pt idx="2">
                    <c:v>10回</c:v>
                  </c:pt>
                  <c:pt idx="3">
                    <c:v>20回</c:v>
                  </c:pt>
                  <c:pt idx="4">
                    <c:v>30回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41</c:v>
                </c:pt>
                <c:pt idx="2">
                  <c:v>65</c:v>
                </c:pt>
                <c:pt idx="3">
                  <c:v>88</c:v>
                </c:pt>
                <c:pt idx="4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22F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0243E"/>
                </a:solidFill>
                <a:latin typeface="Yu Gothic"/>
              </a:defRPr>
            </a:pPr>
            <a:r>
              <a:rPr sz="1250" b="0" i="0" u="none" strike="noStrike">
                <a:solidFill>
                  <a:srgbClr val="10243E"/>
                </a:solidFill>
                <a:latin typeface="Yu Gothic"/>
              </a:rPr>
              <a:t>1年後にどれだけ差がつくか（初日を1とした場合）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毎日 +1%</c:v>
                </c:pt>
              </c:strCache>
            </c:strRef>
          </c:tx>
          <c:spPr>
            <a:solidFill>
              <a:srgbClr val="3E7C5A"/>
            </a:solidFill>
            <a:ln w="31750" cap="flat">
              <a:solidFill>
                <a:srgbClr val="3E7C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E7C5A"/>
              </a:solidFill>
              <a:ln w="9525" cap="flat">
                <a:solidFill>
                  <a:srgbClr val="3E7C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0日</c:v>
                  </c:pt>
                  <c:pt idx="1">
                    <c:v>60日</c:v>
                  </c:pt>
                  <c:pt idx="2">
                    <c:v>120日</c:v>
                  </c:pt>
                  <c:pt idx="3">
                    <c:v>180日</c:v>
                  </c:pt>
                  <c:pt idx="4">
                    <c:v>240日</c:v>
                  </c:pt>
                  <c:pt idx="5">
                    <c:v>300日</c:v>
                  </c:pt>
                  <c:pt idx="6">
                    <c:v>365日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1.8</c:v>
                </c:pt>
                <c:pt idx="2">
                  <c:v>3.3</c:v>
                </c:pt>
                <c:pt idx="3">
                  <c:v>6</c:v>
                </c:pt>
                <c:pt idx="4">
                  <c:v>10.8</c:v>
                </c:pt>
                <c:pt idx="5">
                  <c:v>19.8</c:v>
                </c:pt>
                <c:pt idx="6">
                  <c:v>37.8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現状維持</c:v>
                </c:pt>
              </c:strCache>
            </c:strRef>
          </c:tx>
          <c:spPr>
            <a:solidFill>
              <a:srgbClr val="64748B"/>
            </a:solidFill>
            <a:ln w="3175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0日</c:v>
                  </c:pt>
                  <c:pt idx="1">
                    <c:v>60日</c:v>
                  </c:pt>
                  <c:pt idx="2">
                    <c:v>120日</c:v>
                  </c:pt>
                  <c:pt idx="3">
                    <c:v>180日</c:v>
                  </c:pt>
                  <c:pt idx="4">
                    <c:v>240日</c:v>
                  </c:pt>
                  <c:pt idx="5">
                    <c:v>300日</c:v>
                  </c:pt>
                  <c:pt idx="6">
                    <c:v>365日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毎日 −1%</c:v>
                </c:pt>
              </c:strCache>
            </c:strRef>
          </c:tx>
          <c:spPr>
            <a:solidFill>
              <a:srgbClr val="B94A3F"/>
            </a:solidFill>
            <a:ln w="31750" cap="flat">
              <a:solidFill>
                <a:srgbClr val="B94A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4A3F"/>
              </a:solidFill>
              <a:ln w="9525" cap="flat">
                <a:solidFill>
                  <a:srgbClr val="B94A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0日</c:v>
                  </c:pt>
                  <c:pt idx="1">
                    <c:v>60日</c:v>
                  </c:pt>
                  <c:pt idx="2">
                    <c:v>120日</c:v>
                  </c:pt>
                  <c:pt idx="3">
                    <c:v>180日</c:v>
                  </c:pt>
                  <c:pt idx="4">
                    <c:v>240日</c:v>
                  </c:pt>
                  <c:pt idx="5">
                    <c:v>300日</c:v>
                  </c:pt>
                  <c:pt idx="6">
                    <c:v>365日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</c:v>
                </c:pt>
                <c:pt idx="1">
                  <c:v>0.55</c:v>
                </c:pt>
                <c:pt idx="2">
                  <c:v>0.3</c:v>
                </c:pt>
                <c:pt idx="3">
                  <c:v>0.16</c:v>
                </c:pt>
                <c:pt idx="4">
                  <c:v>0.09</c:v>
                </c:pt>
                <c:pt idx="5">
                  <c:v>0.05</c:v>
                </c:pt>
                <c:pt idx="6">
                  <c:v>0.03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22F"/>
              </a:solidFill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【0:00-0:30】
挨拶は短く。名乗ったらすぐ次のスライドの「問い」に入る。
「今日は精神論を一切話しません。構造の話だけをします」と宣言して始める。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【0:30-2:00】
参加者に実際に手を挙げてもらう、または隣と一言交換させる。
「3年以上言っている人？」で笑いが起きたら掴めている。
ここで「あなたが悪いのではない」と一度受け止めてから、構造の話に入る。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【2:00-4:00】
右下（着実に伸びる人）を指して「今日ここに全員を移動させます」と言う。
左上（頑張っているのに進まない）に自分もいたと自己開示すると刺さる。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【4:00-5:30】
3つを読み上げる。特に②は「今日つくって帰ってもらいます」と強調し、演習への予告にする。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【5:30-8:00】
実績は「盛らない」。等身大の数字のほうが信頼される。
必ず「うまくいかなかった時期」を先に話し、そこからどう変わったかの順で語る。失敗談→転機→現在。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【8:00-10:00】
ここが本日いちばん大事な導入。相手の警戒心を解くパート。
「怪しい自己啓発ではない」と明言する。③の「効かなければ捨てて」は必ず言う。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【10:00-12:00】
「あなたはどこがゼロですか？」と問いかける。
ほとんどの人は「回転数」か「継続」がゼロ。だが実は原因は上流の「目的の明確さ」にあると予告する。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【12:00-13:30】
6つを一気に読み上げる。ここでは覚えさせない。「今から1つずつやります」と宣言するだけ。
RAPORT＝ラポール（信頼関係）と同じ綴り、と補足すると記憶に残る。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【13:30-16:00】
左右の矢印を指しながら話す。「どちらも同じ距離を歩いています。違うのは到達点だけ」。
積み上げ思考を否定しないこと。「悪いのではなく、遅い」と言う。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【16:00-18:00】
数字は参加者の生活に合わせて調整可。会社員向けなら仕事50時間、経営者向けなら70時間など。
「2年分の複利」は次のO章・T章の複利グラフへの伏線。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【18:00-20:00】
ステップ3が肝。「達成の直前に何が起きているか」を2〜3回繰り返し実演すると理解が早い。
例：年商1億の直前 → 月800万の受注 → 商談60件 → リスト300件。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【20:00-21:30】
チェックボックスを1つずつ読み上げ、参加者に自分のゴールで○×をつけてもらう。
「7つ全部○の人？」→ ほぼ挙がらない。ここで演習への動機づけが完成する。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【21:30-23:00】
表を右から左に読み返す「逆読みチェック」を実演する。
「リスト20件つくると商談5件になる、本当か？」と因果を疑わせるのがコツ。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【23:00-27:00】4分。
タイマーを見せる。1分経過時点で「まだ数字が入っていない人？」と声をかける。
終了後、2〜3名に発表してもらい、その場で7項目チェックを当てて添削するとライブ感が出る。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【27:00-29:00】
「自分を商品扱いするのは冷たい」と感じる人がいる。「自分を大事にするからこそ、正しく売り方を設計する」と補足する。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【29:00-31:00】
「もともと私は6つで教えていました。ただ現場で見ていると、6で止まると"分析しただけ"で終わる」と正直に言う。
この正直さが理論の信頼性を上げる。7-12を足した経緯を語ること。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【31:00-33:00】
Step2の「証拠のあるものだけ書く」を強調。自己評価と他者評価のズレが最大の落とし穴。
Step3の「順番の誤り」は具体例で：集客より先に商品を磨きすぎる、など。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【33:00-35:00】
「1人に決める」で必ず反論が出る（客を減らしたくない）。
返し：「1人に刺さらないメッセージは、100人にも刺さりません」。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【35:00-37:00】
ここは「もとの6ステップには無かった部分です」と明示して話す。
USPの一文テンプレを板書：「＿＿な人が、＿＿を、＿＿によって解決できる。他と違うのは＿＿だから」。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【37:00-39:00】
「1回できたことは、まだ実力ではない」を強く言う。
12がある人だけが、次のステージ（人に任せる／規模を広げる）に行ける。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【39:00-40:30】
参加者の属性に近い列を指して話す。事前に参加者の目的を聞いておき、その場で1列書き換えると効果が高い。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【40:30-45:30】5分。
巡回して手が止まっている人に「ゴールをもう一度声に出して」と促す。
終了後、1〜2名に「足りない3つ」を発表してもらい、量／質／順番のどれかを全員で判定すると盛り上がる。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「PDCAは知ってますよね？」と聞いて全員に頷かせてから、「では先週1周回した人？」で落とす。
知識と実行のギャップを可視化するのがこのスライドの役割。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参加者に「自分はどれか」を1つ選んでもらう。挙手させると4番が最多になりやすい。
右列の処方箋だけメモさせれば十分。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「判定基準を先に決める」がいちばん抵抗される。理由は、逃げ道がなくなるから。
そこを笑いにしてから「逃げ道を消すのが目的です」と言い切る。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3列目の「言い訳」は、参加者が普段書いている振り返りそのもの。自分の日報を思い出させる。
「言い訳は悪ではなく、ただ改善に使えないだけ」と言うと受け入れられやすい。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「変数を1つだけ」は実務でいちばん守られない。営業なら「トークを変えるならリストは変えない」と具体例で。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グラフは「週1回で年52周」を指差す。「月1回の人の4年分を、1年で経験できます」。
毎日365周は現実的でないので「日次は記録だけ」と補足する。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「PDCAが回らない」という相談の半分は、まだ計画できない段階でPDCAを使っているケース。
この区別を伝えるだけで救われる人がいる。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【TIME】4分。
スマホを出させて、その場で週次30分の予定を入れさせる。ここで入れた人だけが実際に続く。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「同じ失敗の繰り返しは失敗」は必ず入れる。これがないと、ただの都合のいい理屈に聞こえる。
記録があるかどうかが、データと失敗を分ける唯一の線。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数式は出さない。「10%でも30回で96%」だけ覚えてもらう。
注意：この計算は各試行が独立の場合。実際は学習するので、もっと上がる、と補足すると納得感が増す。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ここは誠実さが問われる場面。「諦めるな」だけ言う人との差別化ポイント。
②の撤退ラインの話をすると、経営者・投資経験者からの信頼が一気に上がる。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自分の大きな失敗を1つ、この5問に沿って実演すると強い。
特に⑤で「だから今日こうして話しています」に着地させると、講師としての正当性が立つ。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「これはスピリチュアルな話ではありません」と先に否定しておく。
"事実かどうか"ではなく"どちらの前提を採用すると前に進めるか"という功利的な説明にすると、論理的な人にも通る。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参加者に自分の直近の出来事を1つ出してもらい、その場で3列目まで一緒に埋める。
ライブで翻訳して見せると、この原則の実用性が一気に伝わる。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このスライドを入れることで、理論全体の信頼性が上がる。
「何でも自己責任」と言う指導者との差別化がここで完成する。省略しないこと。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「ギブは自己犠牲ではない」と明確に。搾取される人との違いは、次のスライド（No Deal）で回収する。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No Dealの説明が、この章の信頼性を決める。「良い人でいろ」という話ではないと明示する。
3回ルールは目安。数字を出すと実務で使いやすくなる。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1.01^365 = 37.8、0.99^365 = 0.03。この2つの数字だけ覚えてもらう。
「毎日1%」は行動でも信頼でも同じ、と両方に効かせる。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「自分の価値を数字で言えますか？」と問う。ほとんど言えない。
ここが言えるようになると、報酬交渉も営業も、根拠を持って話せるようになる。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短く。「ここからが本番、持ち帰り編です」と切り替える。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1枚で全体を思い出せるスライド。配布資料ではこのページを最初に持ってくるのも有効。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この1枚を配布資料の巻末に入れる。参加者が持ち帰る「地図」になる。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「今日ここに来た時点で①の罠に片足を入れています」と言うと笑いが起きる。
だから演習をやった、と回収する。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配布用に印刷して渡すページ。「冷蔵庫に貼ってください」レベルの実用性を狙う。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本日の中で最も「信頼を得る」スライド。売り込みの直前に、あえて「捨ててください」と言う。
ここで押さないことが、結果的にいちばん効く。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事例は3つで十分。参加者の属性に近いものを1つは必ず入れる。
許可のない事例は絶対に出さない。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実際にペンを持たせて書かせる。書いた人に「何を書きましたか」と2〜3人聞く。
ここで宣言が生まれると、後日の相談につながりやすい。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売り込みは1枚だけ。押さない。T章のNo Dealを自分に適用して見せると、一貫性が伝わる。
価格は必ず事前に決めて記入しておくこと。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【TIME】
Q&amp;Aは8分想定。よくある質問：
・目標が見つからない → まず「嫌なこと」を書き出す、そこから反転させる
・続かない → 目標が他人のものになっていないか確認
・時間がない → 32時間スライドに戻る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このページは投影しません。講師用の付録です。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280160"/>
            <a:ext cx="4297680" cy="429768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8686" y="2010766"/>
            <a:ext cx="2836469" cy="283646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6314" y="2698394"/>
            <a:ext cx="1461211" cy="1461211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75013" y="3257093"/>
            <a:ext cx="343814" cy="343814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5532120"/>
            <a:ext cx="3291840" cy="2057400"/>
          </a:xfrm>
          <a:prstGeom prst="line">
            <a:avLst/>
          </a:prstGeom>
          <a:noFill/>
          <a:ln w="28575">
            <a:solidFill>
              <a:srgbClr val="D4A24C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777240" y="14173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ACHIEVEMENT THEORY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2880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最短で、目標に到達する。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118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達成に「再現性」をつくる 6つの原則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77240" y="4224528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49884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人生は、寄り道をしていられるほど長くない。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34924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【講師名を記入】 ／ 【肩書・所属を記入】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7150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所要 60分（講義 45分＋演習 15分）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406908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93885" y="4473245"/>
            <a:ext cx="1569110" cy="156911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74275" y="4853635"/>
            <a:ext cx="808330" cy="80833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3342" y="5162702"/>
            <a:ext cx="190195" cy="190195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OPENING QUESTION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その「いつかやりたい」は、</a:t>
            </a:r>
            <a:endParaRPr lang="en-US" sz="38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何年前から言っていますか？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77240" y="411480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4348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能力の問題ではありません。設計の問題です。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9834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同じ1年でも、到達点が10倍変わる。その差は「才能」ではなく「達成の型を持っているか」で決まります。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 YOU ARE STUCK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差がつくのは「能力」ではなく「構造」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同じ能力でも、構造の有無で到達点はここまで変わる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965960"/>
            <a:ext cx="3794760" cy="1737360"/>
          </a:xfrm>
          <a:prstGeom prst="roundRect">
            <a:avLst>
              <a:gd name="adj" fmla="val 368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627632" y="2167128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構造なし × 能力高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27632" y="2468880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頑張っているのに進まない人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27632" y="2898648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努力量は十分。ただし方向が定まらず、成果が積み上がらない。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22392" y="1965960"/>
            <a:ext cx="3794760" cy="1737360"/>
          </a:xfrm>
          <a:prstGeom prst="roundRect">
            <a:avLst>
              <a:gd name="adj" fmla="val 3684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678424" y="2167128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構造あり × 能力高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678424" y="2468880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圧倒的に伸びる人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678424" y="2898648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正しい方向に、正しい量。成果が複利で積み上がる。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71600" y="3959352"/>
            <a:ext cx="3794760" cy="1737360"/>
          </a:xfrm>
          <a:prstGeom prst="roundRect">
            <a:avLst>
              <a:gd name="adj" fmla="val 368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627632" y="4160520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構造なし × 能力中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4462272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迷子になる人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27632" y="4892040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何から手をつけるか分からず、情報収集で時間が終わる。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22392" y="3959352"/>
            <a:ext cx="3794760" cy="1737360"/>
          </a:xfrm>
          <a:prstGeom prst="roundRect">
            <a:avLst>
              <a:gd name="adj" fmla="val 368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678424" y="4160520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構造あり × 能力中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678424" y="4462272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着実に伸びる人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678424" y="4892040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能力が平均でも、型があるので毎月前に進む。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7150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能力は生まれつき。構造は、今日から手に入る。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TODAY'S GOAL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今日、持ち帰っていただくもの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「良い話を聞いた」で終わらせません。成果物を3つ持って帰ります。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10149840" cy="1097280"/>
          </a:xfrm>
          <a:prstGeom prst="roundRect">
            <a:avLst>
              <a:gd name="adj" fmla="val 583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8448" y="2304288"/>
            <a:ext cx="512064" cy="512064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9844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1945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自分が達成できない理由を、構造で説明できる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615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根性や才能のせいにするのをやめて、どこが詰まっているかを言葉にできる状態になります。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3337560"/>
            <a:ext cx="10149840" cy="1097280"/>
          </a:xfrm>
          <a:prstGeom prst="roundRect">
            <a:avLst>
              <a:gd name="adj" fmla="val 583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98448" y="3630168"/>
            <a:ext cx="512064" cy="512064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98448" y="3630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35204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目標から逆算した90日プランを、この場でつくる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394106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「今日やること」まで落ちた1枚。持ち帰ってすぐ動けます。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05840" y="4663440"/>
            <a:ext cx="10149840" cy="1097280"/>
          </a:xfrm>
          <a:prstGeom prst="roundRect">
            <a:avLst>
              <a:gd name="adj" fmla="val 583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98448" y="4956048"/>
            <a:ext cx="512064" cy="512064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98448" y="4956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8463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毎週まわす検証サイクルを手に入れる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526694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意志の力に頼らず、前に進み続ける仕組みを渡します。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WHO IS SPEAKING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なぜ、私がこれを話すのか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理論の前に、それを実際に使って何が起きたかをお話しします。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937760" cy="3977640"/>
          </a:xfrm>
          <a:prstGeom prst="roundRect">
            <a:avLst>
              <a:gd name="adj" fmla="val 1609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プロフィール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514600"/>
            <a:ext cx="4343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【氏名／年齢／出身を記入】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【現在の事業・役職を記入】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【何年、何を積み上げてきたかを記入】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【最も苦しかった時期のエピソードを記入】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5040" y="1874520"/>
            <a:ext cx="5349240" cy="3977640"/>
          </a:xfrm>
          <a:prstGeom prst="roundRect">
            <a:avLst>
              <a:gd name="adj" fmla="val 1609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5508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数字で見る実績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606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　】社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32095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経営する法人数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42248" y="2606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　】名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842248" y="32095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組織の人数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087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　】年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6908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この型を運用してきた年数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842248" y="4087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　】%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842248" y="46908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導入後に改善した指標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9618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このページは必ずご自身の実数に置き換えてください。数字のない自己紹介は説得力を失います。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CREDIBILITY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この理論を、信じてよい3つの理由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「信じてください」とは言いません。「試してください」と言います。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291840" cy="3154680"/>
          </a:xfrm>
          <a:prstGeom prst="roundRect">
            <a:avLst>
              <a:gd name="adj" fmla="val 2029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5568" y="2267712"/>
            <a:ext cx="548640" cy="54864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5568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971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借り物ではない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3493008"/>
            <a:ext cx="2724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本や資格で覚えた知識ではなく、自分の会社・自分の組織で毎日検証し、うまくいかなかったものを削り続けて残った型です。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07408" y="1965960"/>
            <a:ext cx="3291840" cy="3154680"/>
          </a:xfrm>
          <a:prstGeom prst="roundRect">
            <a:avLst>
              <a:gd name="adj" fmla="val 2029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0016" y="2267712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0016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2971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原理が単純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700016" y="3493008"/>
            <a:ext cx="2724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覚えるのは6つだけ。複雑な理論は、忙しい現場では絶対に使われません。使われない理論に価値はありません。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91856" y="1965960"/>
            <a:ext cx="3291840" cy="3154680"/>
          </a:xfrm>
          <a:prstGeom prst="roundRect">
            <a:avLst>
              <a:gd name="adj" fmla="val 2029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4464" y="2267712"/>
            <a:ext cx="548640" cy="548640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84464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971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検証できる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84464" y="3493008"/>
            <a:ext cx="2724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30日あれば、効果があるかどうか自分で判定できます。効かなければ捨ててください。それが誠実な理論の条件です。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5349240"/>
            <a:ext cx="10561320" cy="777240"/>
          </a:xfrm>
          <a:prstGeom prst="roundRect">
            <a:avLst>
              <a:gd name="adj" fmla="val 8235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143000" y="53492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理論の価値は「正しそうに聞こえるか」ではなく「試して結果が変わるか」で決まります。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 EQUATION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達成の方程式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足し算ではなく、掛け算。ひとつでもゼロなら、答えはゼロになります。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606040" y="233172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0604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目的の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明確さ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892040" y="233172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9204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178040" y="233172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7804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回転数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464040" y="233172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46404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657600"/>
            <a:ext cx="10607040" cy="2148840"/>
          </a:xfrm>
          <a:prstGeom prst="roundRect">
            <a:avLst>
              <a:gd name="adj" fmla="val 2979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97280" y="3840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よくある失敗パターン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2245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やる気はあるが目標が曖昧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224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 0 × 逆算 8 × 回転 9 × 継続 9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4224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 0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7365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計画は立派だが動かない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4736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 9 × 逆算 9 × 回転 0 × 継続 9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601200" y="47365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 0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52486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始めるが3週間で消える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52486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 8 × 逆算 7 × 回転 8 × 継続 0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52486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 0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 FRAMEWORK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達成の6原則 — RAPORT メソッド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覚えるのは6文字だけ。この順番に意味があります。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291840" cy="1783080"/>
          </a:xfrm>
          <a:prstGeom prst="roundRect">
            <a:avLst>
              <a:gd name="adj" fmla="val 359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2402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2402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847088" y="22585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逆算する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REVERSE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0449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ゴールから今日を決める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07408" y="1965960"/>
            <a:ext cx="3291840" cy="1783080"/>
          </a:xfrm>
          <a:prstGeom prst="roundRect">
            <a:avLst>
              <a:gd name="adj" fmla="val 359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22402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22402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431536" y="22585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現在地を知る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31536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ANALYZE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81728" y="30449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マーケティング思考で自分を分析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91856" y="1965960"/>
            <a:ext cx="3291840" cy="1783080"/>
          </a:xfrm>
          <a:prstGeom prst="roundRect">
            <a:avLst>
              <a:gd name="adj" fmla="val 359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66176" y="22402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66176" y="22402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015984" y="22585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回す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015984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PDCA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66176" y="30449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仮説検証の回転数を上げる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050792"/>
            <a:ext cx="3291840" cy="1783080"/>
          </a:xfrm>
          <a:prstGeom prst="roundRect">
            <a:avLst>
              <a:gd name="adj" fmla="val 359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97280" y="4325112"/>
            <a:ext cx="621792" cy="621792"/>
          </a:xfrm>
          <a:prstGeom prst="roundRect">
            <a:avLst>
              <a:gd name="adj" fmla="val 8824"/>
            </a:avLst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7280" y="4325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1847088" y="4343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失敗を越える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847088" y="4690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OVERCOME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512978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失敗をデータに変えて続ける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407408" y="4050792"/>
            <a:ext cx="3291840" cy="1783080"/>
          </a:xfrm>
          <a:prstGeom prst="roundRect">
            <a:avLst>
              <a:gd name="adj" fmla="val 359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4325112"/>
            <a:ext cx="621792" cy="621792"/>
          </a:xfrm>
          <a:prstGeom prst="roundRect">
            <a:avLst>
              <a:gd name="adj" fmla="val 8824"/>
            </a:avLst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81728" y="4325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5431536" y="4343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解釈を変える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5431536" y="4690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REFRAME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681728" y="512978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起きたことを課題として受け取る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991856" y="4050792"/>
            <a:ext cx="3291840" cy="1783080"/>
          </a:xfrm>
          <a:prstGeom prst="roundRect">
            <a:avLst>
              <a:gd name="adj" fmla="val 359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66176" y="4325112"/>
            <a:ext cx="621792" cy="621792"/>
          </a:xfrm>
          <a:prstGeom prst="roundRect">
            <a:avLst>
              <a:gd name="adj" fmla="val 8824"/>
            </a:avLst>
          </a:prstGeom>
          <a:solidFill>
            <a:srgbClr val="7A5A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66176" y="4325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9015984" y="4343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信頼を積む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9015984" y="4690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A5A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TRUST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266176" y="512978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有益性のバランスで関係を伸ばす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82296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D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9281160" y="43434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8690" y="4700930"/>
            <a:ext cx="1388059" cy="138805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5190" y="5037430"/>
            <a:ext cx="715061" cy="715061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8595" y="5310835"/>
            <a:ext cx="168250" cy="168250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PRINCIPLE 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目標から逆算する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REVERSE  ENGINEERING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「今できること」から始めない。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ゴールを決めて、そこから今日を逆算する。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順番を変えるだけで、到達までの距離が変わります。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R｜REVERSE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積み上げ思考 vs 逆算思考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同じ努力量でも、出発点の取り方で結果はここまで変わる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029200" cy="3931920"/>
          </a:xfrm>
          <a:prstGeom prst="roundRect">
            <a:avLst>
              <a:gd name="adj" fmla="val 162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2148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積み上げ思考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5786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今できることから始める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188720" y="4297680"/>
            <a:ext cx="1188720" cy="548640"/>
          </a:xfrm>
          <a:prstGeom prst="line">
            <a:avLst/>
          </a:prstGeom>
          <a:noFill/>
          <a:ln w="31750">
            <a:solidFill>
              <a:srgbClr val="B94A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377440" y="3566160"/>
            <a:ext cx="914400" cy="731520"/>
          </a:xfrm>
          <a:prstGeom prst="line">
            <a:avLst/>
          </a:prstGeom>
          <a:noFill/>
          <a:ln w="31750">
            <a:solidFill>
              <a:srgbClr val="B94A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3566160"/>
            <a:ext cx="1005840" cy="685800"/>
          </a:xfrm>
          <a:prstGeom prst="line">
            <a:avLst/>
          </a:prstGeom>
          <a:noFill/>
          <a:ln w="31750">
            <a:solidFill>
              <a:srgbClr val="B94A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4297680" y="3246120"/>
            <a:ext cx="1051560" cy="1005840"/>
          </a:xfrm>
          <a:prstGeom prst="line">
            <a:avLst/>
          </a:prstGeom>
          <a:noFill/>
          <a:ln w="31750">
            <a:solidFill>
              <a:srgbClr val="B94A3F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143000" y="470916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進んでいる「感じ」はする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ゴールとズレても気づけない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寄り道の分だけ時間を失う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到達できるかどうかは運任せ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1920240"/>
            <a:ext cx="5029200" cy="3931920"/>
          </a:xfrm>
          <a:prstGeom prst="roundRect">
            <a:avLst>
              <a:gd name="adj" fmla="val 1628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75120" y="2148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逆算思考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5786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ゴールを決めてから今日を決める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flipV="1">
            <a:off x="6720840" y="4251960"/>
            <a:ext cx="4114800" cy="960120"/>
          </a:xfrm>
          <a:prstGeom prst="line">
            <a:avLst/>
          </a:prstGeom>
          <a:noFill/>
          <a:ln w="38100">
            <a:solidFill>
              <a:srgbClr val="3E7C5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634472" y="2999232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3E7C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33959" y="3098719"/>
            <a:ext cx="386243" cy="386243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3E7C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27593" y="3192353"/>
            <a:ext cx="198973" cy="198973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3E7C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03671" y="3268431"/>
            <a:ext cx="46817" cy="46817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470916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ゴールとの距離が常に見える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ズレたその週に修正できる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やらないことが決まる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最短距離で到達できる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R｜REVERSE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寄り道のコストを、数字で見る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人生は、寄り道をしていられるほど長くない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029200" cy="3931920"/>
          </a:xfrm>
          <a:prstGeom prst="roundRect">
            <a:avLst>
              <a:gd name="adj" fmla="val 1628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あなたが自由に使える時間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606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1週間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26060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168 時間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63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 睡眠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30632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−56 時間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 仕事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3520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−50 時間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977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 生活・移動・家族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977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−30 時間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43000" y="4498848"/>
            <a:ext cx="4434840" cy="18288"/>
          </a:xfrm>
          <a:prstGeom prst="rect">
            <a:avLst/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300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勝負できる時間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4617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 時間 / 週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2578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年間にすると約 1,664 時間。ここをどう使うかで、5年後が決まります。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1920240"/>
            <a:ext cx="5029200" cy="3931920"/>
          </a:xfrm>
          <a:prstGeom prst="roundRect">
            <a:avLst>
              <a:gd name="adj" fmla="val 162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67512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寄り道が生むロス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54203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本来3年で届く目標があるとします。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そのうち40%の時間を「ゴールに直結しないこと」に使うと——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33832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5年</a:t>
            </a:r>
            <a:endParaRPr lang="en-US" sz="52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33832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かかる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75120" y="4434840"/>
            <a:ext cx="43891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B94A3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858000" y="44348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失うのは「2年」ではなく、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2年分の複利で伸びたはずの自分です。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5349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最短ルートで駆け抜ける。それが逆算する唯一の理由です。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R｜REVERSE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逆算の5ステップ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未来から現在へ、条件を一段ずつ降ろしていく作業です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561320" cy="731520"/>
          </a:xfrm>
          <a:prstGeom prst="roundRect">
            <a:avLst>
              <a:gd name="adj" fmla="val 875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048256"/>
            <a:ext cx="475488" cy="47548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ゴールを定義する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1920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数値・期限・状態の3点セットで書く。「痩せたい」ではなく「12月31日に体重62kg」。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779776"/>
            <a:ext cx="10561320" cy="731520"/>
          </a:xfrm>
          <a:prstGeom prst="roundRect">
            <a:avLst>
              <a:gd name="adj" fmla="val 875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97280" y="2907792"/>
            <a:ext cx="475488" cy="47548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277977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達成した日の1日を描く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779776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朝起きて何をして、誰と会い、何を見ているか。情景が描けないゴールには到達できません。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639312"/>
            <a:ext cx="10561320" cy="731520"/>
          </a:xfrm>
          <a:prstGeom prst="roundRect">
            <a:avLst>
              <a:gd name="adj" fmla="val 875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7280" y="3767328"/>
            <a:ext cx="475488" cy="47548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36393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「その直前」を書き出す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363931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達成の1つ手前で、何が起きているか。この問いを繰り返すのが逆算の本体です。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498848"/>
            <a:ext cx="10561320" cy="731520"/>
          </a:xfrm>
          <a:prstGeom prst="roundRect">
            <a:avLst>
              <a:gd name="adj" fmla="val 875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97280" y="4626864"/>
            <a:ext cx="475488" cy="47548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44988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現在地まで降ろす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449884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 → 1年 → 四半期 → 今月 → 今週。段が細かいほど、迷いが消えます。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" y="5358384"/>
            <a:ext cx="10561320" cy="731520"/>
          </a:xfrm>
          <a:prstGeom prst="roundRect">
            <a:avLst>
              <a:gd name="adj" fmla="val 8750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97280" y="5486400"/>
            <a:ext cx="475488" cy="475488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97280" y="5486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783080" y="535838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最初の1歩を今週に置く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358384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今週やる1つが決まるまで、逆算は終わっていません。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R｜REVERSE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ゴールの解像度チェック 7項目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7つ埋まらないうちは、それはまだ「願望」です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189280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数字で言えるか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246888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期限が入っているか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07238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04495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第三者が達成を判定できるか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64845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62102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達成した日の情景を描写できるか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2245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4197096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なぜそれが欲しいか、3回掘り下げて説明できるか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25880" y="477316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達成して得るもの／失うものを言えるか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537667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25880" y="534924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今日やることが1つ決まるか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366760" y="1920240"/>
            <a:ext cx="3017520" cy="3931920"/>
          </a:xfrm>
          <a:prstGeom prst="roundRect">
            <a:avLst>
              <a:gd name="adj" fmla="val 2121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245059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「独立して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成功したい」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686800" y="3520440"/>
            <a:ext cx="2377440" cy="18288"/>
          </a:xfrm>
          <a:prstGeom prst="rect">
            <a:avLst/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4005072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「2027年3月末までに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本業以外で月商80万円、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粗利50%を6か月連続」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R｜REVERSE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逆算プランの型（記入例）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ゴールから今日まで、1本の線でつながっているか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613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91640"/>
                <a:gridCol w="1463040"/>
                <a:gridCol w="1371600"/>
                <a:gridCol w="1463040"/>
                <a:gridCol w="1371600"/>
                <a:gridCol w="16459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3年後（ゴール）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1年後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四半期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今週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今日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例A｜独立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5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月商300万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月商100万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月商40万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新規契約2件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商談5件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リスト20件作成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例B｜健康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5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体脂肪15%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体重−12kg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体重−4kg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体重−1.4kg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運動4回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朝30分歩く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例C｜キャリア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5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事業責任者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マネージャー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評価A獲得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重点KPI達成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報告2件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上司と面談設定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4617720"/>
            <a:ext cx="10561320" cy="1188720"/>
          </a:xfrm>
          <a:prstGeom prst="roundRect">
            <a:avLst>
              <a:gd name="adj" fmla="val 538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14300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見るべきポイント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50749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右端の「今日」が具体的な動作になっているか。ここが抽象的なら、上流のどこかで逆算が切れています。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逆に「今日」から左に読んで、ゴールまでつながって聞こえるかも必ず確認してください。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0"/>
            <a:ext cx="219456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8515" y="4579315"/>
            <a:ext cx="1448410" cy="144841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59645" y="4930445"/>
            <a:ext cx="746150" cy="74615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4938" y="5215738"/>
            <a:ext cx="175565" cy="175565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 01 ／ 4分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演習①：あなたのゴールを1文で書く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77240" y="2926080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880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いちばん実現したいことを1つだけ選ぶ（複数はNG）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3584448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387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数値と期限を入れて、1文にする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4242816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42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19709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7項目チェックにかける。埋まらない項目に印をつける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4901184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901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85546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「今日やること」を1つだけ書く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669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書けなくても構いません。「書けなかった」という事実こそが、いま最も価値のある発見です。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82296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D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9281160" y="43434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8690" y="4700930"/>
            <a:ext cx="1388059" cy="138805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5190" y="5037430"/>
            <a:ext cx="715061" cy="715061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8595" y="5310835"/>
            <a:ext cx="168250" cy="168250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PRINCIPLE 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現在地を知る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ANALYZE  YOURSELF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ゴールが決まったら、次は現在地。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自分を「商品」として分析すると、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何が足りないのかが一瞬で見えます。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A｜ANALYZE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なぜ「自分」にマーケティングを使うのか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マーケティングとは、望む結果が出る仕組みをつくる技術です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029200" cy="1828800"/>
          </a:xfrm>
          <a:prstGeom prst="roundRect">
            <a:avLst>
              <a:gd name="adj" fmla="val 35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2103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一般的な定義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4505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「売れる仕組みをつくる技術」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0175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商品が、選ばれ続ける状態をつくること。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029200" cy="1828800"/>
          </a:xfrm>
          <a:prstGeom prst="roundRect">
            <a:avLst>
              <a:gd name="adj" fmla="val 3500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75120" y="2103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人生に置き換えると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39572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「望む結果が出る</a:t>
            </a:r>
            <a:endParaRPr lang="en-US" sz="20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仕組みをつくる技術」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246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自分が、選ばれ続ける状態をつくること。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977640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4187952"/>
            <a:ext cx="777240" cy="329184"/>
          </a:xfrm>
          <a:prstGeom prst="roundRect">
            <a:avLst>
              <a:gd name="adj" fmla="val 13889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18795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617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あなた自身（スキル・実績・人柄）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93008" y="3977640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21608" y="4187952"/>
            <a:ext cx="777240" cy="329184"/>
          </a:xfrm>
          <a:prstGeom prst="roundRect">
            <a:avLst>
              <a:gd name="adj" fmla="val 13889"/>
            </a:avLst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21608" y="418795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21608" y="4617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あなたが選ばれたい場所・業界・領域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63056" y="3977640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91656" y="4187952"/>
            <a:ext cx="777240" cy="329184"/>
          </a:xfrm>
          <a:prstGeom prst="roundRect">
            <a:avLst>
              <a:gd name="adj" fmla="val 13889"/>
            </a:avLst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91656" y="418795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91656" y="4617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あなたを選ぶ人（会社・上司・お客様）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33104" y="3977640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61704" y="4187952"/>
            <a:ext cx="777240" cy="329184"/>
          </a:xfrm>
          <a:prstGeom prst="roundRect">
            <a:avLst>
              <a:gd name="adj" fmla="val 13889"/>
            </a:avLst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61704" y="418795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61704" y="4617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あなたが受け取る報酬・評価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売れない商品には、必ず理由があります。人も、まったく同じです。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A｜ANALYZE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自己分析の12ステップ（完全版）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前半6つは土台。後半6つがないと、分析は成果に変わりません。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2578608" cy="1143000"/>
          </a:xfrm>
          <a:prstGeom prst="roundRect">
            <a:avLst>
              <a:gd name="adj" fmla="val 56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50592"/>
            <a:ext cx="384048" cy="38404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441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8895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何を得たいか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1272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ゴール1文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47872" y="2286000"/>
            <a:ext cx="2578608" cy="1143000"/>
          </a:xfrm>
          <a:prstGeom prst="roundRect">
            <a:avLst>
              <a:gd name="adj" fmla="val 56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30752" y="2450592"/>
            <a:ext cx="384048" cy="38404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30752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441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現状分析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28895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いま何を持っているか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730752" y="31272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棚卸しリスト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18504" y="2286000"/>
            <a:ext cx="2578608" cy="1143000"/>
          </a:xfrm>
          <a:prstGeom prst="roundRect">
            <a:avLst>
              <a:gd name="adj" fmla="val 56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01384" y="2450592"/>
            <a:ext cx="384048" cy="38404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1384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76872" y="2441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差分／不足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01384" y="28895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何が足りないか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01384" y="31272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ギャップ一覧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89136" y="2286000"/>
            <a:ext cx="2578608" cy="1143000"/>
          </a:xfrm>
          <a:prstGeom prst="roundRect">
            <a:avLst>
              <a:gd name="adj" fmla="val 56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72016" y="2450592"/>
            <a:ext cx="384048" cy="38404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72016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747504" y="2441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市場分析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272016" y="28895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どこで戦うか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272016" y="31272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市場の見立て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3611880"/>
            <a:ext cx="2578608" cy="1143000"/>
          </a:xfrm>
          <a:prstGeom prst="roundRect">
            <a:avLst>
              <a:gd name="adj" fmla="val 56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0120" y="3776472"/>
            <a:ext cx="384048" cy="38404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012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435608" y="3767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セグメント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42153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どう切り分けるか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60120" y="44531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分類軸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547872" y="3611880"/>
            <a:ext cx="2578608" cy="1143000"/>
          </a:xfrm>
          <a:prstGeom prst="roundRect">
            <a:avLst>
              <a:gd name="adj" fmla="val 56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730752" y="3776472"/>
            <a:ext cx="384048" cy="38404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730752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206240" y="3767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3730752" y="42153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誰に選ばれるか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730752" y="44531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顧客像1人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18504" y="3611880"/>
            <a:ext cx="2578608" cy="1143000"/>
          </a:xfrm>
          <a:prstGeom prst="roundRect">
            <a:avLst>
              <a:gd name="adj" fmla="val 5600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01384" y="3776472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01384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976872" y="3767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ポジショニング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501384" y="42153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なぜ"あなた"か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501384" y="44531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差別化の一文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089136" y="3611880"/>
            <a:ext cx="2578608" cy="1143000"/>
          </a:xfrm>
          <a:prstGeom prst="roundRect">
            <a:avLst>
              <a:gd name="adj" fmla="val 5600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272016" y="3776472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272016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747504" y="3767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提供価値／USP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272016" y="42153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何を約束するか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9272016" y="44531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価値提案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77240" y="4937760"/>
            <a:ext cx="2578608" cy="1143000"/>
          </a:xfrm>
          <a:prstGeom prst="roundRect">
            <a:avLst>
              <a:gd name="adj" fmla="val 5600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60120" y="5102352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60120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435608" y="5093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施策設計（4P）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960120" y="55412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どう届けるか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960120" y="5779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具体的な打ち手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547872" y="4937760"/>
            <a:ext cx="2578608" cy="1143000"/>
          </a:xfrm>
          <a:prstGeom prst="roundRect">
            <a:avLst>
              <a:gd name="adj" fmla="val 5600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730752" y="5102352"/>
            <a:ext cx="384048" cy="384048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730752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4206240" y="5093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KPI設計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3730752" y="55412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何を数えるか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3730752" y="5779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先行指標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318504" y="4937760"/>
            <a:ext cx="2578608" cy="1143000"/>
          </a:xfrm>
          <a:prstGeom prst="roundRect">
            <a:avLst>
              <a:gd name="adj" fmla="val 5600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501384" y="5102352"/>
            <a:ext cx="384048" cy="384048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501384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6976872" y="5093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実行／PDCA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6501384" y="55412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どう回すか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6501384" y="5779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週次サイクル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9089136" y="4937760"/>
            <a:ext cx="2578608" cy="1143000"/>
          </a:xfrm>
          <a:prstGeom prst="roundRect">
            <a:avLst>
              <a:gd name="adj" fmla="val 5600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9272016" y="5102352"/>
            <a:ext cx="384048" cy="384048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272016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9747504" y="5093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仕組み化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9272016" y="55412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どう再現するか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9272016" y="5779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手順書・習慣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77240" y="5806440"/>
            <a:ext cx="201168" cy="20116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97280" y="5742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1-6　土台（現状把握）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4526280" y="5806440"/>
            <a:ext cx="201168" cy="20116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846320" y="5742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7-9　抜けやすい部分（勝ち方の設計）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8275320" y="5806440"/>
            <a:ext cx="201168" cy="201168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8595360" y="5742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10-12　その先（成果と再現性）</a:t>
            </a:r>
            <a:endParaRPr lang="en-US" sz="1200" dirty="0"/>
          </a:p>
        </p:txBody>
      </p:sp>
      <p:sp>
        <p:nvSpPr>
          <p:cNvPr id="84" name="Text 81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85" name="Text 82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A｜ANALYZE　STEP 1-3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土台：目的 → 現状 → 差分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ここを飛ばして打ち手を考えるから、努力が空回りします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48840"/>
            <a:ext cx="457200" cy="45720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697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明確にイメージできている状態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246120"/>
            <a:ext cx="2816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「明確」の定義＝他人に説明したとき、相手の頭に同じ絵が浮かぶこと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曖昧なまま進むと、途中の判断がすべてブレる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R章の7項目チェックをここで使う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148840"/>
            <a:ext cx="457200" cy="45720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現状分析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697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まず自分の状態を知ること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246120"/>
            <a:ext cx="2816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棚卸し4象限：スキル／実績／人脈／使える時間とお金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3C：自分（Company）・相手（Customer）・比較対象（Competitor）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「できるつもり」を排除する。証拠のあるものだけ書く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2148840"/>
            <a:ext cx="457200" cy="45720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差分／不足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697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目的と現状の差を知る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246120"/>
            <a:ext cx="2816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差分＝これからやることリストそのもの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不足は3種類：量の不足／質の不足／順番の誤り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どれかを見極めないと、間違った努力を増やすことになる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A｜ANALYZE　STEP 4-6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戦場を選ぶ：市場 → セグメント → ターゲット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努力より先に、どこで戦うかで勝負の8割が決まります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4884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市場分析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どこで戦うか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需要はあるか／伸びているか／すでに強者で埋まっていないか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外部環境（PEST）：政治・経済・社会・技術の追い風を探す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沈む市場で努力するのが、いちばんもったいない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14884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セグメント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どう切り分けるか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全員にとって良いものは、誰にとっても良くない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切り口：属性／状況／悩みの深さ／支払い能力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悩みが深く、お金を払える層はどこかを見る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214884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誰に選ばれるか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1人に決める。年齢・仕事・悩み・口ぐせまで書く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「その人が今夜、検索する言葉」まで言えるか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ターゲットが決まると、やらないことが決まる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A｜ANALYZE　STEP 7-9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【ここが抜けやすい】勝ち方を設計する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分析で終わる人と、成果が出る人の分かれ目がここです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4884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ポジショニング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なぜ「あなた」なのか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2軸マップを描き、誰もいない場所を取る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比較された時点で、価格勝負に落ちる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例：「若手向け × 実務伴走」で唯一になる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14884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提供価値／USP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何を約束するか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「誰の」「どんな痛みを」「どう解決し」「他と何が違うか」を一文に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機能ではなく、相手が得る変化を書く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約束できないことは、書かない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214884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施策設計（4P）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どう届けるか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Product：提供するもの／Price：値付け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Place：出会う場所／Promotion：伝え方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4つのうち1つでも欠けると、良いものが届かない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A｜ANALYZE　STEP 10-12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【この先】成果と再現性をつくる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ここまで来て初めて、分析が「実力」に変わります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48840"/>
            <a:ext cx="457200" cy="457200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KPI設計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何を数えるか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結果指標（遅行指標）ではなく、行動指標（先行指標）を数える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例：契約数ではなく商談数、体重ではなく運動回数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自分でコントロールできる数字だけをKPIにする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148840"/>
            <a:ext cx="457200" cy="457200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実行／PDCA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どう回すか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週1回30分の検証会を、カレンダーに固定する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数えたKPIを見て、仮説が合っていたかを判定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次章のP（PDCA）に接続します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2148840"/>
            <a:ext cx="457200" cy="457200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仕組み化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どう再現するか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うまくいった手順を文書化し、習慣に落とす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再現できて初めて「実力」。1回だけなら偶然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仕組みになったものは、人に任せられる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A｜ANALYZE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個人のテーマに当てはめると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同じ12ステップが、どんなテーマにもそのまま使えます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613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ステップ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例A｜転職・昇進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例B｜副業を立ち上げる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例C｜体づくり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 目的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2年で事業責任者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3年で月商100万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1年で体脂肪15%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 現状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実績はあるが社内発信ゼロ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スキルあり・顧客ゼロ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週0回運動・外食中心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 差分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可視化と信頼の不足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集客導線の不足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習慣と食事管理の不足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4-6 戦場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成長部署／評価者は誰か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狭い領域で1人に絞る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続けられる運動を選ぶ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7-9 勝ち方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「数字で語る人」になる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「〇〇専門」と名乗る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朝の30分に固定する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10-12 再現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週次で上司に報告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週次で商談数を数える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記録アプリで毎日記録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0"/>
            <a:ext cx="219456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8515" y="4579315"/>
            <a:ext cx="1448410" cy="144841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59645" y="4930445"/>
            <a:ext cx="746150" cy="74615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4938" y="5215738"/>
            <a:ext cx="175565" cy="175565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 02 ／ 5分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演習②：現在地とギャップを書き出す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77240" y="2926080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88036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いま持っているものを棚卸しする（スキル／実績／人脈／時間とお金）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3584448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3872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ゴールに必要なものを書き出す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4242816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42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19709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差分＝足りないものを3つに絞る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4901184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901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855464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その不足は「量」「質」「順番」のどれかを判定する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669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3つに絞れない人は、まだゴールが曖昧です。R章に戻ってください。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82296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D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9281160" y="43434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8690" y="4700930"/>
            <a:ext cx="1388059" cy="138805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5190" y="5037430"/>
            <a:ext cx="715061" cy="715061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8595" y="5310835"/>
            <a:ext cx="168250" cy="168250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PRINCIPLE 03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回す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  DO  CHECK  ACT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言わずと知れた成功法。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ただし、ほとんどの人は回せていません。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速く回した人が、正しい人に勝ちます。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P｜PDCA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PDCAの本質は「精神論を数字に変える装置」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回すほど、あなたの「勘」が「データ」に変わっていきます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2514600" cy="2834640"/>
          </a:xfrm>
          <a:prstGeom prst="roundRect">
            <a:avLst>
              <a:gd name="adj" fmla="val 254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21284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仮説を立てる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730752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数値目標・仮説・期限・判定基準を、動く前に決める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64408" y="1965960"/>
            <a:ext cx="320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E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1965960"/>
            <a:ext cx="2514600" cy="2834640"/>
          </a:xfrm>
          <a:prstGeom prst="roundRect">
            <a:avLst>
              <a:gd name="adj" fmla="val 254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94760" y="221284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9476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実行して記録する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730752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実行より記録。記録のない実行は、検証できない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53328" y="1965960"/>
            <a:ext cx="320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E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1965960"/>
            <a:ext cx="2514600" cy="2834640"/>
          </a:xfrm>
          <a:prstGeom prst="roundRect">
            <a:avLst>
              <a:gd name="adj" fmla="val 254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221284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事実で検証する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CHECK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3730752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仮説と結果の差を、解釈を混ぜずに見る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842248" y="1965960"/>
            <a:ext cx="320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E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0" y="1965960"/>
            <a:ext cx="2514600" cy="2834640"/>
          </a:xfrm>
          <a:prstGeom prst="roundRect">
            <a:avLst>
              <a:gd name="adj" fmla="val 254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72600" y="221284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7260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93726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次の一手を決める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372600" y="3730752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続ける／変える／やめる の3択で必ず決める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" y="5029200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1097280" y="50292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速く回した人が、正しい人に勝つ。 — 1回の完璧な計画より、10回の粗い検証。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P｜PDCA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PDCAが回らない5つの理由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知らないから回らないのではありません。型が違うから回らないのです。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1993392"/>
            <a:ext cx="475488" cy="475488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993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19072" y="18745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Pが曖昧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187452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数字も期限もない。「頑張る」は計画ではありません。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366760" y="187452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数値・期限・判定基準を先に決める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715768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24128" y="2834640"/>
            <a:ext cx="475488" cy="475488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24128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719072" y="271576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Dが記録されていない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271576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「やった感」だけが残り、何をどれだけやったか誰も言えない。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71576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何を／どれだけ／結果 の3点だけ記録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557016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24128" y="3675888"/>
            <a:ext cx="475488" cy="475488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24128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719072" y="355701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Cの基準が後付け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069080" y="355701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結果を見てから基準を決めるので、いつでも言い訳が成立する。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3557016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判定基準はPの時点で書いておく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4398264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24128" y="4517136"/>
            <a:ext cx="475488" cy="475488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4128" y="4517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719072" y="439826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Aが感想で終わる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069080" y="439826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「次は頑張る」は行動ではない。翌週も同じことが起きる。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4398264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続ける／変える／やめる を明言する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" y="5239512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24128" y="5358384"/>
            <a:ext cx="475488" cy="475488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4128" y="5358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719072" y="523951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サイクルが長すぎる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069080" y="523951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年1回の振り返りでは、学習が起きる前に忘れてしまう。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523951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週次を基本サイクルにする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P｜PDCA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 Plan と Do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動く前に決めることが4つ。動いた後に残すものが3つ。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166360" cy="3931920"/>
          </a:xfrm>
          <a:prstGeom prst="roundRect">
            <a:avLst>
              <a:gd name="adj" fmla="val 162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17627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810512" y="21762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動く前に決める4つ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数値目標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953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「商談を週5件」のように数える対象を決める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685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36667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「〜すれば、〜になるはず」の形で書く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3982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43799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いつ判定するかを日付で決める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1114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判定基準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50932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何点なら成功か、動く前に決めておく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5166360" cy="3931920"/>
          </a:xfrm>
          <a:prstGeom prst="roundRect">
            <a:avLst>
              <a:gd name="adj" fmla="val 1628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217627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251192" y="21762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実行より、記録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2926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記録されていない実行は、検証できません。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検証できない実行は、何度やっても上達しません。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37960" y="3749040"/>
            <a:ext cx="45262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766560" y="3749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やった行動の名前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4407408"/>
            <a:ext cx="45262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766560" y="4407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どれだけ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44074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回数・時間・件数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5065776"/>
            <a:ext cx="45262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766560" y="50657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50657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起きたことの事実だけ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5486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記録は3行で十分。続かない記録に意味はありません。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P｜PDCA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Check：事実と解釈を分ける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ここを混ぜた瞬間に、改善点は消えます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37560" cy="3200400"/>
          </a:xfrm>
          <a:prstGeom prst="roundRect">
            <a:avLst>
              <a:gd name="adj" fmla="val 2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121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51760"/>
            <a:ext cx="2816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商談 15件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 2件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成約率 13%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返信率 40%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34340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数えられること。誰が見ても同じもの。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337560" cy="3200400"/>
          </a:xfrm>
          <a:prstGeom prst="roundRect">
            <a:avLst>
              <a:gd name="adj" fmla="val 2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2121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51760"/>
            <a:ext cx="2816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提案の順番が刺さっていない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想定より単価が高かったかも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ターゲットがズレている可能性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434340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事実から導いた仮の説明。次の仮説になる。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01000" y="1920240"/>
            <a:ext cx="3337560" cy="3200400"/>
          </a:xfrm>
          <a:prstGeom prst="roundRect">
            <a:avLst>
              <a:gd name="adj" fmla="val 2000"/>
            </a:avLst>
          </a:prstGeom>
          <a:solidFill>
            <a:srgbClr val="F7EEED"/>
          </a:solidFill>
          <a:ln w="9525">
            <a:solidFill>
              <a:srgbClr val="B94A3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75320" y="2121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言い訳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651760"/>
            <a:ext cx="2816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忙しかった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相手が悪かった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タイミングが悪かった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景気が悪い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434340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自分の外に原因を置いた瞬間、改善点が消える。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5303520"/>
            <a:ext cx="10607040" cy="777240"/>
          </a:xfrm>
          <a:prstGeom prst="roundRect">
            <a:avLst>
              <a:gd name="adj" fmla="val 8235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97280" y="5303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検証すべき問いはひとつ。「立てた仮説と、実際の結果は、どこがどれだけ違ったか」。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P｜PDCA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Act：選択肢は3つしかない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「次は頑張る」は選択肢に入っていません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337560" cy="356616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212848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続ける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CONTINUE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127248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仮説が当たった。同じことの「量」を増やす。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4160520"/>
            <a:ext cx="27889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234440" y="4160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勝ち筋が見えたら、迷わず倍にする。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965960"/>
            <a:ext cx="3337560" cy="356616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212848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変える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CHANGE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127248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仮説が外れた。変数を1つだけ変えて再検証する。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4160520"/>
            <a:ext cx="27889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46320" y="4160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同時に2つ変えると、何が効いたか永遠に分からない。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01000" y="1965960"/>
            <a:ext cx="3337560" cy="356616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75320" y="2212848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やめる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STOP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127248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構造的に無理。撤退して資源を別に回す。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75320" y="4160520"/>
            <a:ext cx="27889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58200" y="4160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撤退は敗北ではなく、時間を取り戻す戦略。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3つのどれにも決められないときは、Cが甘い。事実に戻ってください。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P｜PDCA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回転数を設計する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1年で何周回したか。それがそのまま、成長量になります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6596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1965960"/>
            <a:ext cx="4937760" cy="3840480"/>
          </a:xfrm>
          <a:prstGeom prst="roundRect">
            <a:avLst>
              <a:gd name="adj" fmla="val 1667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766560" y="2176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サイクルの使い分け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2606040"/>
            <a:ext cx="42976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967728" y="260604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日次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60604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3分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13648" y="2606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行動量のチェックのみ。数を記録する。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766560" y="3383280"/>
            <a:ext cx="42976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967728" y="33832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338328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30分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13648" y="33832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仮説検証の主戦場。ここが最重要。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766560" y="4160520"/>
            <a:ext cx="42976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967728" y="41605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863840" y="416052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60分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613648" y="4160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戦術の見直し。KPIの取り方を疑う。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766560" y="4937760"/>
            <a:ext cx="42976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967728" y="493776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四半期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0" y="493776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半日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613648" y="49377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目標・戦略そのものの見直し。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5870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四半期の見直しは、組織の評価サイクルと合わせると定着します。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P｜PDCA　補足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PDCA と OODA の使い分け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計画できる領域と、できない領域で、道具を変えます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166360" cy="3291840"/>
          </a:xfrm>
          <a:prstGeom prst="roundRect">
            <a:avLst>
              <a:gd name="adj" fmla="val 194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697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既知・繰り返しの領域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108960"/>
            <a:ext cx="4526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前例があり、変数が読める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計画を立てる価値がある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改善して精度を上げる段階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例：既存業務、営業活動、学習、トレーニング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166360" cy="3291840"/>
          </a:xfrm>
          <a:prstGeom prst="roundRect">
            <a:avLst>
              <a:gd name="adj" fmla="val 1944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OODA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697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未知・初挑戦の領域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108960"/>
            <a:ext cx="4526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観察 → 情勢判断 → 意思決定 → 行動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計画より、素早い当て勘と修正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当たりを探す段階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例：新規事業、転職活動、初めての挑戦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5440680"/>
            <a:ext cx="10607040" cy="685800"/>
          </a:xfrm>
          <a:prstGeom prst="roundRect">
            <a:avLst>
              <a:gd name="adj" fmla="val 9333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97280" y="54406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新しいことは OODA で当たりを探し、型が見えたら PDCA で磨く。この順番が最短です。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0"/>
            <a:ext cx="219456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8515" y="4579315"/>
            <a:ext cx="1448410" cy="144841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59645" y="4930445"/>
            <a:ext cx="746150" cy="74615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4938" y="5215738"/>
            <a:ext cx="175565" cy="175565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 03 ／ 4分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演習③：今週まわす1周を設計する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77240" y="2926080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88036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今週の数値目標を1つ書く（自分で数えられる行動指標）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3584448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3872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仮説を「〜すれば〜になるはず」の形で書く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4242816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42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19709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検証する曜日と時刻を決めて、カレンダーに入れる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4901184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901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855464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判定基準を先に書く（何点なら成功か）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669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カレンダーに入っていない予定は、実行されません。今この場で入れてください。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82296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D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9281160" y="43434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8690" y="4700930"/>
            <a:ext cx="1388059" cy="138805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5190" y="5037430"/>
            <a:ext cx="715061" cy="715061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8595" y="5310835"/>
            <a:ext cx="168250" cy="168250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PRINCIPLE 04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失敗を越える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OVERCOME  FAILURE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失敗は、避けるものではありません。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集めるものです。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やめない限り、失敗は存在しません。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O｜OVERCOME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失敗の定義を、書き換える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定義が変われば、同じ出来事の意味が変わります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166360" cy="1965960"/>
          </a:xfrm>
          <a:prstGeom prst="roundRect">
            <a:avLst>
              <a:gd name="adj" fmla="val 3256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2121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一般的な定義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4505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 ＝ うまくいかないこと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9718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だから避ける。避けるから挑戦の数が減る。数が減るから成功も減る。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166360" cy="1965960"/>
          </a:xfrm>
          <a:prstGeom prst="roundRect">
            <a:avLst>
              <a:gd name="adj" fmla="val 3256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2121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この理論の定義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4505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 ＝ やめること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9718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それ以外は、すべて「データ」。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やめない限り、失敗はまだ発生していません。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0" y="2898648"/>
            <a:ext cx="274320" cy="0"/>
          </a:xfrm>
          <a:prstGeom prst="line">
            <a:avLst/>
          </a:prstGeom>
          <a:noFill/>
          <a:ln w="31750">
            <a:solidFill>
              <a:srgbClr val="D4A24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7240" y="4114800"/>
            <a:ext cx="5166360" cy="804672"/>
          </a:xfrm>
          <a:prstGeom prst="roundRect">
            <a:avLst>
              <a:gd name="adj" fmla="val 795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51560" y="411480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うまくいかなかった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411480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仮説が違ったというデータ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114800"/>
            <a:ext cx="5166360" cy="804672"/>
          </a:xfrm>
          <a:prstGeom prst="roundRect">
            <a:avLst>
              <a:gd name="adj" fmla="val 795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92240" y="411480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断られた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732520" y="411480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相手か伝え方がズレていたというデータ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5166360" cy="804672"/>
          </a:xfrm>
          <a:prstGeom prst="roundRect">
            <a:avLst>
              <a:gd name="adj" fmla="val 7955"/>
            </a:avLst>
          </a:prstGeom>
          <a:solidFill>
            <a:srgbClr val="F7EEED"/>
          </a:solidFill>
          <a:ln w="9525">
            <a:solidFill>
              <a:srgbClr val="B94A3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51560" y="507492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同じ失敗を繰り返した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50749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これは失敗。記録していない証拠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5074920"/>
            <a:ext cx="5166360" cy="804672"/>
          </a:xfrm>
          <a:prstGeom prst="roundRect">
            <a:avLst>
              <a:gd name="adj" fmla="val 7955"/>
            </a:avLst>
          </a:prstGeom>
          <a:solidFill>
            <a:srgbClr val="F7EEED"/>
          </a:solidFill>
          <a:ln w="9525">
            <a:solidFill>
              <a:srgbClr val="B94A3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92240" y="507492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挑戦をやめた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732520" y="50749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これが唯一の失敗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O｜OVERCOME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挑戦回数は、才能の代わりになる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1回の成功率が低くても、打席に立てば結果は変わります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6596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903720" y="1965960"/>
            <a:ext cx="4480560" cy="3840480"/>
          </a:xfrm>
          <a:prstGeom prst="roundRect">
            <a:avLst>
              <a:gd name="adj" fmla="val 1667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22376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読み取れること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265176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才能とは、1回あたりの確率のこと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挑戦回数は、確率と同じだけ結果を動かす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確率は変えにくいが、回数は今日から変えられる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「怖くて1回で止める人」と「30回やる人」の差は、能力差ではない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223760" y="5074920"/>
            <a:ext cx="3840480" cy="18288"/>
          </a:xfrm>
          <a:prstGeom prst="rect">
            <a:avLst/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23760" y="52120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打席に立ち続けることは、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才能を増やすことと同じ効果を持ちます。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O｜OVERCOME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「成功するまで諦めなければ成功」— の3条件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ただ耐えることではありません。3つが揃って初めて成立します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37560" cy="370332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48840"/>
            <a:ext cx="457200" cy="45720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724912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方向を変える自由を持つ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45643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握るのは「目的」だけ。手段は捨ててよい。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02336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手段に固執した継続は、ただの意地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目的が同じなら、道は何本あってもいい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「やり方を変えた」は諦めではない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37560" cy="370332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14884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724912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生き残る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45643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再挑戦できる体力・資金・信用を残す。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02336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全額・全時間を1回に賭けない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退場したら、続けることすらできない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撤退ラインを先に決めておく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01000" y="1920240"/>
            <a:ext cx="3337560" cy="370332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2148840"/>
            <a:ext cx="457200" cy="457200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724912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記録する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45643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同じ失敗を繰り返さない仕組みを持つ。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02336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記録のない継続は、同じ失敗の反復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学習曲線が描けて初めて「継続」になる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次の一手が前回より良くなっているか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5742432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7EEED"/>
          </a:solidFill>
          <a:ln w="9525">
            <a:solidFill>
              <a:srgbClr val="B94A3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97280" y="574243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この3つがない継続は、前進ではなく、ただの消耗です。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O｜OVERCOME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失敗を資産に変える5つの質問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この5つに答えた時点で、失敗はあなたの商品になります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2039112"/>
            <a:ext cx="475488" cy="47548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19072" y="192024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事実として、何が起きたか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19202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解釈を混ぜず、数字と出来事だけを書く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761488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24128" y="2880360"/>
            <a:ext cx="475488" cy="47548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4128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719072" y="276148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自分の意思決定の、どこが分岐点だったか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276148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他人ではなく、自分が選んだ場所を特定する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602736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24128" y="3721608"/>
            <a:ext cx="475488" cy="47548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4128" y="3721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719072" y="3602736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事前に気づけるサインはあったか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60273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次に同じ状況を早期発見するためのアラート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443984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24128" y="4562856"/>
            <a:ext cx="475488" cy="47548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24128" y="4562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719072" y="4443984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次に同じ状況が来たら、どう動くか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44398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具体的な行動として書く。感想では意味がない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5285232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4128" y="5404104"/>
            <a:ext cx="475488" cy="475488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4128" y="5404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719072" y="5285232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この経験を誰かの役に立てるなら、何を伝えるか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7269480" y="52852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ここまで来た失敗は、価値のある知見になる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5番に答えられた失敗だけが、他人に売れる経験になります。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82296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D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9281160" y="43434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8690" y="4700930"/>
            <a:ext cx="1388059" cy="138805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5190" y="5037430"/>
            <a:ext cx="715061" cy="715061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8595" y="5310835"/>
            <a:ext cx="168250" cy="168250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PRINCIPLE 05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解釈を変える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REFRAME  THE  EVENT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人には、適切なことしか起こらない。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これは事実の主張ではなく、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最も前に進める「前提の選び方」です。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R｜REFRAME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出来事 × 解釈 ＝ 結果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出来事は変えられません。変えられるのは、掛ける側だけです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2926080" cy="1691640"/>
          </a:xfrm>
          <a:prstGeom prst="roundRect">
            <a:avLst>
              <a:gd name="adj" fmla="val 378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出来事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97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すでに起きたこと。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変えられない。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1965960"/>
            <a:ext cx="914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617720" y="1965960"/>
            <a:ext cx="2926080" cy="1691640"/>
          </a:xfrm>
          <a:prstGeom prst="roundRect">
            <a:avLst>
              <a:gd name="adj" fmla="val 3784"/>
            </a:avLst>
          </a:prstGeom>
          <a:solidFill>
            <a:srgbClr val="FBF3E4"/>
          </a:solidFill>
          <a:ln w="9525">
            <a:solidFill>
              <a:srgbClr val="D4A24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9204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697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どう受け取るか。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ここだけが選べる。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965960"/>
            <a:ext cx="914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458200" y="1965960"/>
            <a:ext cx="2926080" cy="1691640"/>
          </a:xfrm>
          <a:prstGeom prst="roundRect">
            <a:avLst>
              <a:gd name="adj" fmla="val 378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73252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2697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次にとる行動と、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その積み重ね。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3886200"/>
            <a:ext cx="10607040" cy="1965960"/>
          </a:xfrm>
          <a:prstGeom prst="roundRect">
            <a:avLst>
              <a:gd name="adj" fmla="val 3256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97280" y="40690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なぜ「適切なことしか起こらない」と決めると強いのか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537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原因が自分の側に置ける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138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＝自分で改善できる範囲になる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45537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他人や環境を変えなくていい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5138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＝待たずに、今日から動ける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5537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ネガティブが「課題」に変わる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5138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＝落ち込みが、行動できる形になる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R｜REFRAME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解釈の変換表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同じ出来事を、行動できる形に翻訳します</a:t>
            </a:r>
            <a:endParaRPr lang="en-US" sz="1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10607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434840"/>
                <a:gridCol w="37033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起きた出来事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行動につながる解釈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次にとる具体的な行動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断られた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対象か伝え方がズレている、というデータが取れた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誰に・どう伝えたかを見直す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批判された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期待値と現実の差が可視化された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差の中身を一つ確認する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うまくいかない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仮説が間違っていただけ（自分の否定ではない）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変数を1つ変えて再検証する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時間がない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優先順位が決まっていない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やめることを1つ決める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裏切られた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人選と契約設計の学習機会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次回の合意の取り方を変える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評価されない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相手の判断基準を把握できていない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評価者に基準を直接聞く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翻訳のルール：「自分がコントロールできる言葉」に変えるまで、書き直し続けること。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R｜REFRAME　重要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この考え方を使ってはいけない場面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自分を責める道具にした瞬間、この原則は毒に変わります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166360" cy="3246120"/>
          </a:xfrm>
          <a:prstGeom prst="roundRect">
            <a:avLst>
              <a:gd name="adj" fmla="val 1972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2194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使ってよい領域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69748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自分の判断・行動が関与している出来事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仕事、人間関係、成果、習慣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次に自分が動けば変えられること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5262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ここでは「解釈」が最強の武器になります。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166360" cy="3246120"/>
          </a:xfrm>
          <a:prstGeom prst="roundRect">
            <a:avLst>
              <a:gd name="adj" fmla="val 1972"/>
            </a:avLst>
          </a:prstGeom>
          <a:solidFill>
            <a:srgbClr val="F7EEED"/>
          </a:solidFill>
          <a:ln w="9525">
            <a:solidFill>
              <a:srgbClr val="B94A3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2194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使ってはいけない領域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69748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災害・事故・病気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犯罪・ハラスメント・暴力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構造的な不公平、他者の加害行為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44348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ここで必要なのは「解釈」ではなく「対処」。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逃げる・助けを求める・記録して相談するが正解です。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5440680"/>
            <a:ext cx="10607040" cy="777240"/>
          </a:xfrm>
          <a:prstGeom prst="roundRect">
            <a:avLst>
              <a:gd name="adj" fmla="val 8235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97280" y="54406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この原則は、自分を責めるための道具ではありません。前に進むための道具です。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82296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D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9281160" y="43434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8690" y="4700930"/>
            <a:ext cx="1388059" cy="138805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5190" y="5037430"/>
            <a:ext cx="715061" cy="715061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8595" y="5310835"/>
            <a:ext cx="168250" cy="168250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PRINCIPLE 06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信頼を積む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TRUST  &amp;  WIN-WIN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人は「正しいこと」では動きません。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「自分の得」で動きます。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だから、相手の得を先に設計します。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T｜TRUST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有益性のバランス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関係が続くかどうかは、天秤がどちらに傾いているかで決まります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337560" cy="2377440"/>
          </a:xfrm>
          <a:prstGeom prst="roundRect">
            <a:avLst>
              <a:gd name="adj" fmla="val 2692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212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＞ Take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743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関係は伸びる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00400"/>
            <a:ext cx="281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相手に残る価値が大きい。紹介・再依頼・信用が返ってくる。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337560" cy="2377440"/>
          </a:xfrm>
          <a:prstGeom prst="roundRect">
            <a:avLst>
              <a:gd name="adj" fmla="val 2692"/>
            </a:avLst>
          </a:prstGeom>
          <a:solidFill>
            <a:srgbClr val="FBF3E4"/>
          </a:solidFill>
          <a:ln w="9525">
            <a:solidFill>
              <a:srgbClr val="D4A24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2212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＝ Take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743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ただの取引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00400"/>
            <a:ext cx="281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続くが、広がらない。価格でしか比較されなくなる。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01000" y="1965960"/>
            <a:ext cx="3337560" cy="2377440"/>
          </a:xfrm>
          <a:prstGeom prst="roundRect">
            <a:avLst>
              <a:gd name="adj" fmla="val 2692"/>
            </a:avLst>
          </a:prstGeom>
          <a:solidFill>
            <a:srgbClr val="F7EEED"/>
          </a:solidFill>
          <a:ln w="9525">
            <a:solidFill>
              <a:srgbClr val="B94A3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75320" y="2212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4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＜ Take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743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関係は切れる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200400"/>
            <a:ext cx="281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一度は取れても二度目がない。評判が先に減っていく。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572000"/>
            <a:ext cx="10607040" cy="1600200"/>
          </a:xfrm>
          <a:prstGeom prst="roundRect">
            <a:avLst>
              <a:gd name="adj" fmla="val 4000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97280" y="4754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なぜ先に出すのか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1206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相手は「あなたが正しいか」ではなく「自分にとって得か」で判断します。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先に価値を渡した人だけが、判断の土俵に乗ることができます。長期で成功している人に例外はありません。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T｜TRUST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Win-Winの法則と、5つ目の選択肢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「組まない勇気」を持って初めて、Win-Winは選べます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383280" cy="1645920"/>
          </a:xfrm>
          <a:prstGeom prst="roundRect">
            <a:avLst>
              <a:gd name="adj" fmla="val 3889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- Win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974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両者が得をする。時間をかける価値がある唯一の関係。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383280" cy="1645920"/>
          </a:xfrm>
          <a:prstGeom prst="roundRect">
            <a:avLst>
              <a:gd name="adj" fmla="val 3889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- Lose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6974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自分だけ得。短期で終わり、評判を削る。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794760"/>
            <a:ext cx="3383280" cy="1645920"/>
          </a:xfrm>
          <a:prstGeom prst="roundRect">
            <a:avLst>
              <a:gd name="adj" fmla="val 3889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51560" y="4023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- Win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5262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相手だけ得。続けると自分が消耗して撤退する。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0" y="3794760"/>
            <a:ext cx="3383280" cy="1645920"/>
          </a:xfrm>
          <a:prstGeom prst="roundRect">
            <a:avLst>
              <a:gd name="adj" fmla="val 3889"/>
            </a:avLst>
          </a:prstGeom>
          <a:solidFill>
            <a:srgbClr val="F7EEED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663440" y="4023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94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- Lose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5262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意地の張り合い。最も避けるべき状態。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1965960"/>
            <a:ext cx="3246120" cy="3474720"/>
          </a:xfrm>
          <a:prstGeom prst="roundRect">
            <a:avLst>
              <a:gd name="adj" fmla="val 1972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58200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5つ目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Deal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063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組まない、という選択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352044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Win-Winにできないと分かった相手とは、無理に組まない。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この選択肢を持っている人だけが、消耗せずにGiveを続けられます。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判断基準：3回Giveして、1度も返ってこない関係は、No Dealでよい。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T｜TRUST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信頼は、複利で増える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1日1%の差が、1年で37倍の差になります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65960"/>
          <a:ext cx="6309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60920" y="1965960"/>
            <a:ext cx="4023360" cy="3840480"/>
          </a:xfrm>
          <a:prstGeom prst="roundRect">
            <a:avLst>
              <a:gd name="adj" fmla="val 1667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68096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信頼残高の考え方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80960" y="2651760"/>
            <a:ext cx="3383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882128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入金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約束を守る／先に渡す／期待を少し超える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80960" y="3657600"/>
            <a:ext cx="3383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882128" y="3749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出金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882128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遅れる／言い訳する／連絡しない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80960" y="4663440"/>
            <a:ext cx="3383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882128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複利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5074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残高が増えるほど、次の機会が向こうから来る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5715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短期の成果より、残高。ここが逆転すると、努力が効かなくなります。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T｜TRUST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自分の有益性を、数値化する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値引きではなく、価値の見える化。ここで報酬が決まります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2468880" cy="2651760"/>
          </a:xfrm>
          <a:prstGeom prst="roundRect">
            <a:avLst>
              <a:gd name="adj" fmla="val 259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94560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94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金額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72491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相手はいくら増える／減らせるか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611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例：月20万円のコスト削減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1965960"/>
            <a:ext cx="2468880" cy="2651760"/>
          </a:xfrm>
          <a:prstGeom prst="roundRect">
            <a:avLst>
              <a:gd name="adj" fmla="val 259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2194560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2194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72491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相手は何時間手に入るか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611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例：週10時間の作業を代替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965960"/>
            <a:ext cx="2468880" cy="2651760"/>
          </a:xfrm>
          <a:prstGeom prst="roundRect">
            <a:avLst>
              <a:gd name="adj" fmla="val 259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194560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194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72491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相手はどんな損失を避けられるか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611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例：採用失敗1件＝300万円の回避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9680" y="1965960"/>
            <a:ext cx="2468880" cy="2651760"/>
          </a:xfrm>
          <a:prstGeom prst="roundRect">
            <a:avLst>
              <a:gd name="adj" fmla="val 259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98280" y="2194560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98280" y="2194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確率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272491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相手の成功確率をどれだけ上げるか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3611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例：成約率を12%→20%に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4846320"/>
            <a:ext cx="10607040" cy="1325880"/>
          </a:xfrm>
          <a:prstGeom prst="roundRect">
            <a:avLst>
              <a:gd name="adj" fmla="val 4828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97280" y="5029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 ＜ 提供価値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502920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この不等号が成立している限り、値引きの必要はありません。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売れないときに下げるべきは価格ではなく、価値が伝わっていないという伝え方の問題です。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82296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D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9281160" y="43434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8690" y="4700930"/>
            <a:ext cx="1388059" cy="138805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5190" y="5037430"/>
            <a:ext cx="715061" cy="715061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8595" y="5310835"/>
            <a:ext cx="168250" cy="168250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6つを、ひとつに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PUT  IT  TOGETHER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原則は、つなげて初めて機能します。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ここからは、明日からの回し方の話をします。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6原則は、1年をこう回す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一度きりの直線ではなく、回り続けるループです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160020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2423160"/>
            <a:ext cx="685800" cy="68580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逆算する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年始・四半期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194560"/>
            <a:ext cx="228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E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06040" y="2194560"/>
            <a:ext cx="160020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2423160"/>
            <a:ext cx="685800" cy="6858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現在地を知る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四半期はじめ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2194560"/>
            <a:ext cx="228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E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34840" y="2194560"/>
            <a:ext cx="160020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2423160"/>
            <a:ext cx="685800" cy="685800"/>
          </a:xfrm>
          <a:prstGeom prst="ellipse">
            <a:avLst/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回す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2194560"/>
            <a:ext cx="228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E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2194560"/>
            <a:ext cx="160020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0840" y="2423160"/>
            <a:ext cx="685800" cy="685800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08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失敗を越える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つまずいた日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2194560"/>
            <a:ext cx="228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E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92440" y="2194560"/>
            <a:ext cx="160020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49640" y="2423160"/>
            <a:ext cx="685800" cy="685800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496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解釈を変える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落ち込んだ日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692640" y="2194560"/>
            <a:ext cx="228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E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921240" y="2194560"/>
            <a:ext cx="160020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378440" y="2423160"/>
            <a:ext cx="685800" cy="685800"/>
          </a:xfrm>
          <a:prstGeom prst="ellipse">
            <a:avLst/>
          </a:prstGeom>
          <a:solidFill>
            <a:srgbClr val="7A5A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3784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1001268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信頼を積む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01268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A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572768" y="4709160"/>
            <a:ext cx="9125712" cy="0"/>
          </a:xfrm>
          <a:prstGeom prst="line">
            <a:avLst/>
          </a:prstGeom>
          <a:noFill/>
          <a:ln w="25400">
            <a:solidFill>
              <a:srgbClr val="D4A24C"/>
            </a:solidFill>
            <a:prstDash val="solid"/>
            <a:headEnd type="triangle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3657600" y="4800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ループする（四半期ごとにRへ戻る）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77240" y="5303520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1097280" y="53035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 P を回し、つまずいたら O と R を使い、T を毎日積む。四半期ごとに R と A に戻る。これだけです。</a:t>
            </a:r>
            <a:endParaRPr lang="en-US" sz="155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90日実行プラン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最初の90日で、型が身につくかどうかが決まります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2468880" cy="3794760"/>
          </a:xfrm>
          <a:prstGeom prst="roundRect">
            <a:avLst>
              <a:gd name="adj" fmla="val 259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9456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1-7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設計する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00400"/>
            <a:ext cx="2057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ゴールを7項目で確定させる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逆算表を「今日」まで埋める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週次30分をカレンダーに固定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965960"/>
            <a:ext cx="2468880" cy="3794760"/>
          </a:xfrm>
          <a:prstGeom prst="roundRect">
            <a:avLst>
              <a:gd name="adj" fmla="val 259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219456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8-30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回し始める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200400"/>
            <a:ext cx="2057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先行指標を1つだけ数え続ける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週次検証を4回、必ず実施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記録は3行だけ。完璧を狙わない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965960"/>
            <a:ext cx="2468880" cy="3794760"/>
          </a:xfrm>
          <a:prstGeom prst="roundRect">
            <a:avLst>
              <a:gd name="adj" fmla="val 259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19456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31-60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調整する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200400"/>
            <a:ext cx="2057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当たった仮説の量を増やす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外れた仮説は変数を1つ変える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5つの質問で失敗を1件、資産化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69680" y="1965960"/>
            <a:ext cx="2468880" cy="3794760"/>
          </a:xfrm>
          <a:prstGeom prst="roundRect">
            <a:avLst>
              <a:gd name="adj" fmla="val 259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98280" y="219456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9828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61-90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仕組みにする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3200400"/>
            <a:ext cx="2057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うまくいった手順を文書にする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習慣化できたものを固定する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次の90日のゴールを逆算する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90日が終わったら、必ず R に戻る。これを4回繰り返すと1年が終わります。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よくある3つの脱線と、処方箋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ここで落ちる人が、圧倒的に多い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10607040" cy="1143000"/>
          </a:xfrm>
          <a:prstGeom prst="roundRect">
            <a:avLst>
              <a:gd name="adj" fmla="val 56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258568"/>
            <a:ext cx="548640" cy="548640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1305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情報収集で満足する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5877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学んだ時点で、進んだ気になってしまう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2532888"/>
            <a:ext cx="320040" cy="0"/>
          </a:xfrm>
          <a:prstGeom prst="line">
            <a:avLst/>
          </a:prstGeom>
          <a:noFill/>
          <a:ln w="25400">
            <a:solidFill>
              <a:srgbClr val="D4A24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715000" y="2130552"/>
            <a:ext cx="54406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4A24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0" y="213055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インプット2：アウトプット8。学んだら24時間以内に1つ実行する。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10607040" cy="1143000"/>
          </a:xfrm>
          <a:prstGeom prst="roundRect">
            <a:avLst>
              <a:gd name="adj" fmla="val 56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3584448"/>
            <a:ext cx="548640" cy="548640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3584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34564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完璧を待つ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3913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準備が終わらず、いつまでも始まらない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3858768"/>
            <a:ext cx="32004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15000" y="3456432"/>
            <a:ext cx="54406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943600" y="345643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60点で出して、直す。市場の反応だけが正解を知っている。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4617720"/>
            <a:ext cx="10607040" cy="1143000"/>
          </a:xfrm>
          <a:prstGeom prst="roundRect">
            <a:avLst>
              <a:gd name="adj" fmla="val 56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51560" y="4910328"/>
            <a:ext cx="548640" cy="548640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910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783080" y="4782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一人で抱える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5239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誰も見ていないので、静かに消えていく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12080" y="5184648"/>
            <a:ext cx="320040" cy="0"/>
          </a:xfrm>
          <a:prstGeom prst="line">
            <a:avLst/>
          </a:prstGeom>
          <a:noFill/>
          <a:ln w="25400">
            <a:solidFill>
              <a:srgbClr val="3E7C5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715000" y="4782312"/>
            <a:ext cx="54406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943600" y="478231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進捗を報告する相手を1人決める。第三者の目が継続率を上げる。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チェックリスト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意志の力ではなく、リズムで続けます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67128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671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毎日（3分）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69848" y="270662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3E7C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26609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先行指標を1つ記録した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69848" y="299923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3E7C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29535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相手にGiveを1つした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69848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3E7C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32461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ネガティブを1つ翻訳した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2167128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1671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毎週（30分）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10528" y="270662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D4A2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12280" y="26609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仮説と結果の差を見た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10528" y="299923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D4A2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12280" y="29535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続ける／変える／やめるを決めた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10528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D4A2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461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来週の数値目標を書いた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10528" y="35844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D4A2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35387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進捗を1人に報告した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406908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51560" y="4270248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1560" y="42702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毎月（60分）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69848" y="480974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1F7A8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371600" y="47640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KPIの取り方自体を疑った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69848" y="510235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1F7A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371600" y="50566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失敗を1件、5つの質問で資産化した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69848" y="53949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1F7A8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371600" y="53492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やめることを1つ決めた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406908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92240" y="4270248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92240" y="42702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四半期（半日）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10528" y="480974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2C558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12280" y="47640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ゴールを7項目で再チェック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10528" y="510235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2C558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12280" y="50566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逆算表を引き直した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510528" y="53949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2C558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12280" y="53492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現在地（12ステップ）を再分析した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0"/>
            <a:ext cx="219456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8515" y="4579315"/>
            <a:ext cx="1448410" cy="144841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59645" y="4930445"/>
            <a:ext cx="746150" cy="74615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4938" y="5215738"/>
            <a:ext cx="175565" cy="175565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HOW TO VERIFY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信じる前に、試してください。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30日で、この理論が自分に効くかどうかを判定する方法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291840"/>
            <a:ext cx="420624" cy="420624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4612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ゴールを1つ、7項目チェックを通して書く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77240" y="3913632"/>
            <a:ext cx="420624" cy="420624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86791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週次30分の検証を、4回まわす（＝4週間）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535424"/>
            <a:ext cx="420624" cy="420624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535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489704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つまずいたら、5つの質問で記録する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77240" y="5157216"/>
            <a:ext cx="420624" cy="420624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11149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30日後、「先月より前に進んだか」を判定する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77240" y="5623560"/>
            <a:ext cx="10607040" cy="640080"/>
          </a:xfrm>
          <a:prstGeom prst="roundRect">
            <a:avLst>
              <a:gd name="adj" fmla="val 10000"/>
            </a:avLst>
          </a:prstGeom>
          <a:solidFill>
            <a:srgbClr val="1D3A5F"/>
          </a:solidFill>
          <a:ln w="9525">
            <a:solidFill>
              <a:srgbClr val="1D3A5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97280" y="56235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効果がなければ、捨ててください。検証できることが、この理論の誠実さです。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実践した人に起きた変化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ご自身の事例に必ず差し替えてください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337560" cy="3291840"/>
          </a:xfrm>
          <a:prstGeom prst="roundRect">
            <a:avLst>
              <a:gd name="adj" fmla="val 194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5146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【業種・立場を記入】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017520"/>
            <a:ext cx="28163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Before：【状態・数値を記入】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やったこと：【どの原則をどう使ったか】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After：【期間と数値の変化を記入】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337560" cy="3291840"/>
          </a:xfrm>
          <a:prstGeom prst="roundRect">
            <a:avLst>
              <a:gd name="adj" fmla="val 194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5146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【業種・立場を記入】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017520"/>
            <a:ext cx="28163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Before：【状態・数値を記入】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やったこと：【どの原則をどう使ったか】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After：【期間と数値の変化を記入】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1965960"/>
            <a:ext cx="3337560" cy="3291840"/>
          </a:xfrm>
          <a:prstGeom prst="roundRect">
            <a:avLst>
              <a:gd name="adj" fmla="val 194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7532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5146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【業種・立場を記入】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017520"/>
            <a:ext cx="28163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Before：【状態・数値を記入】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やったこと：【どの原則をどう使ったか】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After：【期間と数値の変化を記入】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5440680"/>
            <a:ext cx="10607040" cy="731520"/>
          </a:xfrm>
          <a:prstGeom prst="roundRect">
            <a:avLst>
              <a:gd name="adj" fmla="val 8750"/>
            </a:avLst>
          </a:prstGeom>
          <a:solidFill>
            <a:srgbClr val="F7EEED"/>
          </a:solidFill>
          <a:ln w="9525">
            <a:solidFill>
              <a:srgbClr val="B94A3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注意：数字を盛らないこと。等身大の事例のほうが、はるかに信頼されます。実名・数値の掲載は必ず本人の許可を取ってください。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 ACTION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24時間以内に、ひとつだけ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今日聞いたことの99%は、明日には消えます。だから1つだけ決めます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10607040" cy="1828800"/>
          </a:xfrm>
          <a:prstGeom prst="roundRect">
            <a:avLst>
              <a:gd name="adj" fmla="val 3500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2240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私が24時間以内にやることは——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43000" y="3246120"/>
            <a:ext cx="9601200" cy="0"/>
          </a:xfrm>
          <a:prstGeom prst="line">
            <a:avLst/>
          </a:prstGeom>
          <a:noFill/>
          <a:ln w="19050">
            <a:solidFill>
              <a:srgbClr val="2C558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2788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（ここに、今日決めた最初の1歩を書いてください）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4114800"/>
            <a:ext cx="3337560" cy="16002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5156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小さくする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75488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5分で終わる大きさまで割る。大きい一歩は踏み出せない。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89120" y="4114800"/>
            <a:ext cx="3337560" cy="16002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6344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日時を決める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75488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「いつか」ではなく「明日の何時に」。カレンダーに入れる。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01000" y="4114800"/>
            <a:ext cx="3337560" cy="16002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7532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誰かに言う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75488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宣言した相手がいるだけで、実行率は大きく変わる。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今日の価値は、明日の朝に何をするかで決まります。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SUPPORT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一緒に走る、という選択肢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独学で回せる人は、そのまま進んでください。伴走が要る人だけ、どうぞ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37560" cy="388620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121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単発セッション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33472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90分で、ゴール設定と逆算表を一緒に完成させます。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429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【価格を記入】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51560" y="3977640"/>
            <a:ext cx="278892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11480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ゴールの7項目化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逆算表の作成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最初の90日プラン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37560" cy="3886200"/>
          </a:xfrm>
          <a:prstGeom prst="roundRect">
            <a:avLst>
              <a:gd name="adj" fmla="val 1918"/>
            </a:avLst>
          </a:prstGeom>
          <a:solidFill>
            <a:srgbClr val="FBF3E4"/>
          </a:solidFill>
          <a:ln w="9525">
            <a:solidFill>
              <a:srgbClr val="D4A24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2084832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20848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おすすめ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121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90日伴走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633472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週次でPDCAを一緒に回します。型が身につくまで。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429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【価格を記入】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63440" y="3977640"/>
            <a:ext cx="278892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411480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週1回30分の検証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チャットでの随時相談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90日後の再設計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01000" y="1920240"/>
            <a:ext cx="3337560" cy="388620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75320" y="2121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月次アドバイザリー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633472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型がある方向け。四半期の戦略を一緒に見直します。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429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【価格を記入】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275320" y="3977640"/>
            <a:ext cx="278892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75320" y="411480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月1回60分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四半期の再逆算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意思決定の壁打ち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合わないと感じたら、断ってください。No Deal も、正しい選択です。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1463040"/>
            <a:ext cx="4206240" cy="42062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58861" y="2178101"/>
            <a:ext cx="2776118" cy="2776118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31859" y="2851099"/>
            <a:ext cx="1430122" cy="1430122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78670" y="3397910"/>
            <a:ext cx="336499" cy="336499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5669280"/>
            <a:ext cx="3291840" cy="2057400"/>
          </a:xfrm>
          <a:prstGeom prst="line">
            <a:avLst/>
          </a:prstGeom>
          <a:noFill/>
          <a:ln w="28575">
            <a:solidFill>
              <a:srgbClr val="D4A24C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777240" y="15544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THANK YOU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65960"/>
            <a:ext cx="7223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人生は、寄り道を</a:t>
            </a:r>
            <a:endParaRPr lang="en-US" sz="3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していられるほど長くない。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最短ルートで、駆け抜けてください。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434340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6177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ご質問をどうぞ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1206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【氏名】　／　【メール】　／　【SNS・連絡先】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5321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本日の資料・チェックリストは【配布方法を記入】でお渡しします。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講師用：時間配分と短縮版の作り方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同じ資料で、30分／45分／60分／90分に対応できます</a:t>
            </a:r>
            <a:endParaRPr lang="en-US" sz="14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852160"/>
                <a:gridCol w="27432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形式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構成の調整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想定シーン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60分（標準）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全ページ。演習3本を各4-5分。Q&amp;A 8分。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基本形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45分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演習を①のみに絞る。STEP4-6と OODA、チェックリストを省略。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セミナー登壇向け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30分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R章とP章のみ。A章は12ステップ一覧の1枚だけ見せる。演習なし。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説明会・初回接触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90分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各演習を8分に拡張。演習後に必ず発表とフィードバックを入れる。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ワークショップ形式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709160"/>
            <a:ext cx="10607040" cy="1417320"/>
          </a:xfrm>
          <a:prstGeom prst="roundRect">
            <a:avLst>
              <a:gd name="adj" fmla="val 4516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097280" y="4892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事前に必ず記入するページ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52120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表紙（講師名・肩書）　② 自己紹介と実績の数字　③ 実践者の変化（3事例）　④ 伴走メニューの価格　⑤ 最終ページの連絡先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　】で囲まれた箇所がすべて記入欄です。ここが空欄のまま話すと、説得力が大きく落ちます。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最短で、目標に到達する。— RAPORT METHOD</dc:title>
  <dc:subject>達成に再現性をつくる6原則</dc:subject>
  <dc:creator>PptxGenJS</dc:creator>
  <cp:lastModifiedBy>PptxGenJS</cp:lastModifiedBy>
  <cp:revision>1</cp:revision>
  <dcterms:created xsi:type="dcterms:W3CDTF">2026-09-08T00:04:01Z</dcterms:created>
  <dcterms:modified xsi:type="dcterms:W3CDTF">2026-09-08T00:04:01Z</dcterms:modified>
</cp:coreProperties>
</file>